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6" Type="http://schemas.openxmlformats.org/officeDocument/2006/relationships/viewProps" Target="viewProps.xml" /><Relationship Id="rId4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8" Type="http://schemas.openxmlformats.org/officeDocument/2006/relationships/tableStyles" Target="tableStyles.xml" /><Relationship Id="rId4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Cost of Inaction Analysis for Adolescent Girls’ Education and Human Capital in Nepal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Hernando Grueso, PhD</a:t>
            </a:r>
            <a:br/>
            <a:r>
              <a:rPr/>
              <a:t>UNICEF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2026-05-01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and Context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Source: Nepal Living Standards Survey IV (NLSS IV) 2022/23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Source</a:t>
            </a:r>
            <a:r>
              <a:rPr/>
              <a:t>: National Statistics Office of Nepal · NLSS IV 2022/23 microdata</a:t>
            </a:r>
          </a:p>
          <a:p>
            <a:pPr lvl="0"/>
            <a:r>
              <a:rPr b="1"/>
              <a:t>Sampling</a:t>
            </a:r>
            <a:r>
              <a:rPr/>
              <a:t>: Nationally representative two-stage stratified design across 7 provinces</a:t>
            </a:r>
          </a:p>
          <a:p>
            <a:pPr lvl="0"/>
            <a:r>
              <a:rPr b="1"/>
              <a:t>Sample size</a:t>
            </a:r>
            <a:r>
              <a:rPr/>
              <a:t>: 46,870 individuals in 9,600 households</a:t>
            </a:r>
          </a:p>
          <a:p>
            <a:pPr lvl="0"/>
            <a:r>
              <a:rPr b="1"/>
              <a:t>Analysis sample</a:t>
            </a:r>
            <a:r>
              <a:rPr/>
              <a:t>: 9,785 youth aged 15–24 (4,919 girls, 4,866 boys); 13,586 women aged 15–64 for the causal forest</a:t>
            </a:r>
          </a:p>
          <a:p>
            <a:pPr lvl="0"/>
            <a:r>
              <a:rPr b="1"/>
              <a:t>Modules used</a:t>
            </a:r>
            <a:r>
              <a:rPr/>
              <a:t>: S01 (roster), S07 (education), S08 (disability, Washington Group), S09 (employment), S10 (wages), poverty file</a:t>
            </a:r>
          </a:p>
          <a:p>
            <a:pPr lvl="0"/>
            <a:r>
              <a:rPr b="1"/>
              <a:t>Survey design</a:t>
            </a:r>
            <a:r>
              <a:rPr/>
              <a:t>: PSU = </a:t>
            </a:r>
            <a:r>
              <a:rPr>
                <a:latin typeface="Courier"/>
              </a:rPr>
              <a:t>psu_number</a:t>
            </a:r>
            <a:r>
              <a:rPr/>
              <a:t>, strata = province, weights = </a:t>
            </a:r>
            <a:r>
              <a:rPr>
                <a:latin typeface="Courier"/>
              </a:rPr>
              <a:t>ind_wt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Variables and Definitions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in education, employment or 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S07 + S09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Enrolled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Currently attending any school level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q07_11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Secondary completed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Completed Class 10 (SLC) or higher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q07_12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Currently married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Self-reported marital 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q01_05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Caste/ethnicity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 NLSS groups, recoded to 5 broad categories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q01_07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Wealth quintile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Asset-based, household level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constructed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Below poverty 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Official NSO poverty 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poverty file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Disability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Washington Group 6+ functional difficulty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q08_16–q08_21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Monthly wage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Long-term salaried workers, NPR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q10_07, q10_09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Findings at a Glance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Headline Findings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Diagnostic: Gender Gaps in Education and Employment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Gender Gap is Not in Schools — It is in Labour Markets</a:t>
            </a:r>
          </a:p>
        </p:txBody>
      </p:sp>
      <p:pic>
        <p:nvPicPr>
          <p:cNvPr descr="../outputs/figures/d1_overall_ga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Madhesh and Lumbini: Provinces with the Widest Female NEET Gap</a:t>
            </a:r>
          </a:p>
        </p:txBody>
      </p:sp>
      <p:pic>
        <p:nvPicPr>
          <p:cNvPr descr="../outputs/figures/d2_neet_by_provinc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Marriage Drives Near-Universal NEET — Regardless of Caste</a:t>
            </a:r>
          </a:p>
        </p:txBody>
      </p:sp>
      <p:pic>
        <p:nvPicPr>
          <p:cNvPr descr="../outputs/figures/d3_intersectional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404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Marriage Also Collapses Enrolment — Across All Castes</a:t>
            </a:r>
          </a:p>
        </p:txBody>
      </p:sp>
      <p:pic>
        <p:nvPicPr>
          <p:cNvPr descr="../outputs/figures/d3b_enrolment_intersectional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404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Headline Numbers — Where Each Girl Aged 15–24 Is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3600"/>
                <a:gridCol w="1612900"/>
                <a:gridCol w="15113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 (youth 15–24)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Girls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Gap (pp)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 school only (not working)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+2.6 pp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 school </a:t>
                      </a:r>
                      <a:r>
                        <a:rPr b="1"/>
                        <a:t>and</a:t>
                      </a:r>
                      <a:r>
                        <a:rPr/>
                        <a:t> working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2.0%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+2.8 pp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Working only (not in school)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38.9%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−25.9 pp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NEET</a:t>
                      </a:r>
                      <a:r>
                        <a:rPr/>
                        <a:t> (Not in Educ/Employment)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46.8%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26.4%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+20.4 pp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Of which: currently married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37.4%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+19.8 pp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46.8% NEET figure reflects girls who are </a:t>
            </a:r>
            <a:r>
              <a:rPr i="1"/>
              <a:t>neither</a:t>
            </a:r>
            <a:r>
              <a:rPr/>
              <a:t> in school </a:t>
            </a:r>
            <a:r>
              <a:rPr i="1"/>
              <a:t>nor</a:t>
            </a:r>
            <a:r>
              <a:rPr/>
              <a:t> employed under the ILO 7-day definition (which excludes unpaid family work and unsuccessful job search). These four categories are mutually exclusive and sum to 100%.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Multivariate Analysis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Marriage is by Far the Strongest Barrier — All Factors in Percentage Points</a:t>
            </a:r>
          </a:p>
        </p:txBody>
      </p:sp>
      <p:pic>
        <p:nvPicPr>
          <p:cNvPr descr="../outputs/figures/r1_coef_p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193800"/>
            <a:ext cx="8013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Reading the Coefficient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Marriage is associated with the largest changes.</a:t>
            </a:r>
            <a:r>
              <a:rPr/>
              <a:t> Being currently married is associated with a </a:t>
            </a:r>
            <a:r>
              <a:rPr b="1"/>
              <a:t>−61 pp</a:t>
            </a:r>
            <a:r>
              <a:rPr/>
              <a:t> lower enrolment probability and a </a:t>
            </a:r>
            <a:r>
              <a:rPr b="1"/>
              <a:t>+42 pp</a:t>
            </a:r>
            <a:r>
              <a:rPr/>
              <a:t> higher NEET probability, after controlling for poverty, caste, geography, and disability.</a:t>
            </a:r>
          </a:p>
          <a:p>
            <a:pPr lvl="0"/>
            <a:r>
              <a:rPr b="1"/>
              <a:t>Caste matters even after wealth.</a:t>
            </a:r>
            <a:r>
              <a:rPr/>
              <a:t> Dalit girls face a −6 pp enrolment gap that does not disappear when we control for wealth quintile. Religious/Linguistic girls face a similar penalty.</a:t>
            </a:r>
          </a:p>
          <a:p>
            <a:pPr lvl="0"/>
            <a:r>
              <a:rPr b="1"/>
              <a:t>Wealth helps incrementally.</a:t>
            </a:r>
            <a:r>
              <a:rPr/>
              <a:t> Each step up in the wealth quintile is associated with +5.9 pp enrolment and −4.6 pp NEET.</a:t>
            </a:r>
          </a:p>
          <a:p>
            <a:pPr lvl="0"/>
            <a:r>
              <a:rPr b="1"/>
              <a:t>The gender coefficient on NEET remains +9.3 pp</a:t>
            </a:r>
            <a:r>
              <a:rPr/>
              <a:t> even after holding everything constant — a residual labour-market gap not explained by observable characteristics.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Estimating Education Returns for Adolescent Girls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Secondary Education Reduces NEET by ~13 pp — For Every Caste</a:t>
            </a:r>
          </a:p>
        </p:txBody>
      </p:sp>
      <p:pic>
        <p:nvPicPr>
          <p:cNvPr descr="../outputs/figures/r2_cate_cas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193800"/>
            <a:ext cx="7454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−13.2 pp ATE estimate is for </a:t>
            </a:r>
            <a:r>
              <a:rPr b="1"/>
              <a:t>women aged 15–64</a:t>
            </a:r>
            <a:r>
              <a:rPr/>
              <a:t>. The parallel estimate for men is smaller (~−7 pp) — boys’ NEET is shaped more by labour-demand conditions than by individual schooling. Causal-forest details and boys’ coefficients in the appendix.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Returns to Schooling are Exponentially Larger for Girls</a:t>
            </a:r>
          </a:p>
        </p:txBody>
      </p:sp>
      <p:pic>
        <p:nvPicPr>
          <p:cNvPr descr="../outputs/figures/m1_mincer_lifeti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Average Mincer return:</a:t>
            </a:r>
            <a:r>
              <a:rPr/>
              <a:t> +14.5% per year of schooling for girls vs +12.0% for boys. </a:t>
            </a:r>
            <a:r>
              <a:rPr b="1"/>
              <a:t>Beyond secondary</a:t>
            </a:r>
            <a:r>
              <a:rPr/>
              <a:t> (10+ years): each additional year of schooling adds ~+15% to girls’ lifetime earnings vs ~+10% for boys — the gender gap in returns </a:t>
            </a:r>
            <a:r>
              <a:rPr i="1"/>
              <a:t>widens</a:t>
            </a:r>
            <a:r>
              <a:rPr/>
              <a:t> with educational attainment. Compounded over 35 working years, this is where the cost of inaction concentrates.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Marriage Erodes the Protective Effect of Education</a:t>
            </a:r>
          </a:p>
        </p:txBody>
      </p:sp>
      <p:pic>
        <p:nvPicPr>
          <p:cNvPr descr="../outputs/figures/m2_marriage_interac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the Analyses Tell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Education is associated with inclusion everywhere.</a:t>
            </a:r>
            <a:r>
              <a:rPr/>
              <a:t> Completing secondary school is associated with a </a:t>
            </a:r>
            <a:r>
              <a:rPr b="1"/>
              <a:t>−13.2 pp</a:t>
            </a:r>
            <a:r>
              <a:rPr/>
              <a:t> lower NEET probability. The estimated effect is stable across all 7 provinces and all caste groups.</a:t>
            </a:r>
          </a:p>
          <a:p>
            <a:pPr lvl="0"/>
            <a:r>
              <a:rPr b="1"/>
              <a:t>The Mincer return per year of schooling is 33% for girls</a:t>
            </a:r>
            <a:r>
              <a:rPr/>
              <a:t> (16.2% for boys). After 10 years of schooling, projected lifetime earnings roughly </a:t>
            </a:r>
            <a:r>
              <a:rPr b="1"/>
              <a:t>double</a:t>
            </a:r>
            <a:r>
              <a:rPr/>
              <a:t> relative to no schooling.</a:t>
            </a:r>
          </a:p>
          <a:p>
            <a:pPr lvl="0"/>
            <a:r>
              <a:rPr b="1"/>
              <a:t>Marriage attenuates the protective association.</a:t>
            </a:r>
            <a:r>
              <a:rPr/>
              <a:t> Education is strongly associated with lower NEET for unmarried girls, but the relationship is weaker among married girls — education and marriage prevention act as </a:t>
            </a:r>
            <a:r>
              <a:rPr b="1"/>
              <a:t>complements</a:t>
            </a:r>
            <a:r>
              <a:rPr/>
              <a:t>, not substitutes.</a:t>
            </a:r>
          </a:p>
          <a:p>
            <a:pPr lvl="0"/>
            <a:r>
              <a:rPr b="1"/>
              <a:t>OLS and causal forest produce convergent estimates</a:t>
            </a:r>
            <a:r>
              <a:rPr/>
              <a:t> in direction, magnitude, and stability. The investment case rests on triangulated evidence from two independent methods.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Cost of Inaction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Nepal Forgoes NPR 8 Billion Every Year by Not Educating its Girls</a:t>
            </a:r>
          </a:p>
        </p:txBody>
      </p:sp>
      <p:pic>
        <p:nvPicPr>
          <p:cNvPr descr="../outputs/figures/c1_total_coi_bill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404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of Inaction is 10% of the Annual Health Budget</a:t>
            </a:r>
          </a:p>
        </p:txBody>
      </p:sp>
      <p:pic>
        <p:nvPicPr>
          <p:cNvPr descr="../outputs/figures/c3_coi_vs_budge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Means in Concrete Policy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NPR 8.1 billion</a:t>
            </a:r>
            <a:r>
              <a:rPr/>
              <a:t> is the lifetime productivity loss from </a:t>
            </a:r>
            <a:r>
              <a:rPr b="1"/>
              <a:t>one cohort</a:t>
            </a:r>
            <a:r>
              <a:rPr/>
              <a:t> of 680,231 adolescent girls who will not complete secondary education in Nepal.</a:t>
            </a:r>
          </a:p>
          <a:p>
            <a:pPr lvl="0"/>
            <a:r>
              <a:rPr/>
              <a:t>That equals about </a:t>
            </a:r>
            <a:r>
              <a:rPr b="1"/>
              <a:t>10% of the national health-sector budget</a:t>
            </a:r>
            <a:r>
              <a:rPr/>
              <a:t> and </a:t>
            </a:r>
            <a:r>
              <a:rPr b="1"/>
              <a:t>4% of the education-sector budget</a:t>
            </a:r>
            <a:r>
              <a:rPr/>
              <a:t> for fiscal year 2024/25.</a:t>
            </a:r>
          </a:p>
          <a:p>
            <a:pPr lvl="0"/>
            <a:r>
              <a:rPr b="1"/>
              <a:t>Karnali, Sudurpashchim, and Madhesh</a:t>
            </a:r>
            <a:r>
              <a:rPr/>
              <a:t> carry the largest relative burden — per-girl losses are smaller than in Bagmati because wages are lower, but a larger share of the local economy is at stake.</a:t>
            </a:r>
          </a:p>
          <a:p>
            <a:pPr lvl="0"/>
            <a:r>
              <a:rPr b="1"/>
              <a:t>“Per cohort” means</a:t>
            </a:r>
            <a:r>
              <a:rPr/>
              <a:t> the </a:t>
            </a:r>
            <a:r>
              <a:rPr i="1"/>
              <a:t>lifetime</a:t>
            </a:r>
            <a:r>
              <a:rPr/>
              <a:t> productivity loss for the current cohort of 680,000 adolescent girls (aged 15–24 today). A new cohort enters this stage every year — so this is a </a:t>
            </a:r>
            <a:r>
              <a:rPr b="1"/>
              <a:t>recurring annual loss</a:t>
            </a:r>
            <a:r>
              <a:rPr/>
              <a:t>, not one-off.</a:t>
            </a:r>
          </a:p>
          <a:p>
            <a:pPr lvl="0"/>
            <a:r>
              <a:rPr b="1"/>
              <a:t>Break-even spending per girl.</a:t>
            </a:r>
            <a:r>
              <a:rPr/>
              <a:t> USD 61 million ÷ 680,000 girls ≈ </a:t>
            </a:r>
            <a:r>
              <a:rPr b="1"/>
              <a:t>USD 90 per girl</a:t>
            </a:r>
            <a:r>
              <a:rPr/>
              <a:t> in cumulative lifetime social spending. Any secondary-completion programme costing less than USD 90 per beneficiary would yield a positive return on investment in productivity terms alone.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Recommendations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Investment Priorities for the New 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1 · End child marriage as an economic priority.</a:t>
            </a:r>
            <a:r>
              <a:rPr sz="2000"/>
              <a:t> Marriage is associated with more variation in girls’ NEET than poverty, caste, and disability combined. Enforcement of existing legislation in Madhesh and Lumbini would yield the largest single gain.</a:t>
            </a:r>
          </a:p>
          <a:p>
            <a:pPr lvl="0" indent="0" marL="1270000">
              <a:buNone/>
            </a:pPr>
            <a:r>
              <a:rPr sz="2000" b="1"/>
              <a:t>2 · Universal secondary completion AND year-by-year retention.</a:t>
            </a:r>
            <a:r>
              <a:rPr sz="2000"/>
              <a:t> Each year of schooling is associated with a </a:t>
            </a:r>
            <a:r>
              <a:rPr sz="2000" b="1"/>
              <a:t>14.5% earnings premium</a:t>
            </a:r>
            <a:r>
              <a:rPr sz="2000"/>
              <a:t> for girls. </a:t>
            </a:r>
            <a:r>
              <a:rPr sz="2000" b="1"/>
              <a:t>Beyond secondary completion the gender differential in returns widens</a:t>
            </a:r>
            <a:r>
              <a:rPr sz="2000"/>
              <a:t> (~+15% per year for girls vs ~+10% for boys) — programme design should reward </a:t>
            </a:r>
            <a:r>
              <a:rPr sz="2000" i="1"/>
              <a:t>every year retained</a:t>
            </a:r>
            <a:r>
              <a:rPr sz="2000"/>
              <a:t>, with the largest gains realised in upper-secondary and tertiary education.</a:t>
            </a:r>
          </a:p>
          <a:p>
            <a:pPr lvl="0" indent="0" marL="1270000">
              <a:buNone/>
            </a:pPr>
            <a:r>
              <a:rPr sz="2000" b="1"/>
              <a:t>3 · Dalit-specific labour-market measures.</a:t>
            </a:r>
            <a:r>
              <a:rPr sz="2000"/>
              <a:t> Education alone is associated with a 2 pp residual disadvantage for Dalit women. Pair education with apprenticeships and anti-discrimination measures.</a:t>
            </a:r>
          </a:p>
          <a:p>
            <a:pPr lvl="0" indent="0" marL="1270000">
              <a:buNone/>
            </a:pPr>
            <a:r>
              <a:rPr sz="2000" b="1"/>
              <a:t>4 · Bridge programmes for the 19–24 cohort.</a:t>
            </a:r>
            <a:r>
              <a:rPr sz="2000"/>
              <a:t> The female NEET rate rises sharply after age 18 (+24.7 pp gap). Vocational and second-chance education could capture earnings that current schooling cannot.</a:t>
            </a:r>
          </a:p>
          <a:p>
            <a:pPr lvl="0" indent="0" marL="1270000">
              <a:buNone/>
            </a:pPr>
            <a:r>
              <a:rPr sz="2000" b="1"/>
              <a:t>5 · Track and report sex-disaggregated NEET by province annually.</a:t>
            </a:r>
            <a:r>
              <a:rPr sz="2000"/>
              <a:t> What is not measured is not managed. Make this the new headline statistic of NLSS V.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Methodological Appendix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We Estimate the Cost of Inaction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combine three components: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 · Causal effect</a:t>
            </a:r>
          </a:p>
          <a:p>
            <a:pPr lvl="0" indent="0" marL="0">
              <a:buNone/>
            </a:pPr>
            <a:r>
              <a:rPr/>
              <a:t>Generalised Random Forest (Wager &amp; Athey 2018) on women 15–64, treatment = secondary completion, outcome = NEET. ATE = −13.2 pp.</a:t>
            </a:r>
          </a:p>
          <a:p>
            <a:pPr lvl="0" indent="0" marL="0">
              <a:buNone/>
            </a:pPr>
            <a:r>
              <a:rPr b="1"/>
              <a:t>2 · Earnings projection</a:t>
            </a:r>
          </a:p>
          <a:p>
            <a:pPr lvl="0" indent="0" marL="0">
              <a:buNone/>
            </a:pPr>
            <a:r>
              <a:rPr/>
              <a:t>Mincer wage equation on 952 women in long-term salaried employment. Conservative return = 9% per year of schooling (ILO benchmark, lower than the internal estimate of 14.5%).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3 · Population scaling</a:t>
            </a:r>
          </a:p>
          <a:p>
            <a:pPr lvl="0" indent="0" marL="0">
              <a:buNone/>
            </a:pPr>
            <a:r>
              <a:rPr/>
              <a:t>Survey weights from NLSS IV scaled to national total of 1.4M girls aged 15–24. Provincial CoI = ATE × N excluded × PV per girl.</a:t>
            </a:r>
          </a:p>
          <a:p>
            <a:pPr lvl="0" indent="0" marL="0">
              <a:buNone/>
            </a:pPr>
            <a:r>
              <a:rPr b="1"/>
              <a:t>Discount rate</a:t>
            </a:r>
            <a:r>
              <a:rPr/>
              <a:t>: 5% | </a:t>
            </a:r>
            <a:r>
              <a:rPr b="1"/>
              <a:t>Horizon</a:t>
            </a:r>
            <a:r>
              <a:rPr/>
              <a:t>: 35 working years | </a:t>
            </a:r>
            <a:r>
              <a:rPr b="1"/>
              <a:t>GDP source</a:t>
            </a:r>
            <a:r>
              <a:rPr/>
              <a:t>: NSO Nepal 2023/24 provincial accounts.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Assumptions and Limitations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Mincer Wage Equation: Specification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Mincer human-capital earnings function is estimated as: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log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rPr>
                                  <m:nor/>
                                  <m:sty m:val="p"/>
                                </m:rPr>
                                <m:t>wage</m:t>
                              </m:r>
                            </m:e>
                            <m:sub>
                              <m:r>
                                <m:t>i</m:t>
                              </m:r>
                              <m:r>
                                <m:t>p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t>α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⋅</m:t>
                      </m:r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schooling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⋅</m:t>
                      </m:r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exp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m:t>⋅</m:t>
                      </m:r>
                      <m:sSubSup>
                        <m:e>
                          <m:r>
                            <m:rPr>
                              <m:nor/>
                              <m:sty m:val="p"/>
                            </m:rPr>
                            <m:t>exp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4</m:t>
                          </m:r>
                        </m:sub>
                      </m:sSub>
                      <m:r>
                        <m:rPr>
                          <m:sty m:val="p"/>
                        </m:rPr>
                        <m:t>⋅</m:t>
                      </m:r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rural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γ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ε</m:t>
                          </m:r>
                        </m:e>
                        <m:sub>
                          <m:r>
                            <m:t>i</m:t>
                          </m:r>
                          <m:r>
                            <m:t>p</m:t>
                          </m:r>
                        </m:sub>
                      </m:sSub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rPr>
                                <m:nor/>
                                <m:sty m:val="p"/>
                              </m:rPr>
                              <m:t>wage</m:t>
                            </m:r>
                          </m:e>
                          <m:sub>
                            <m:r>
                              <m:t>i</m:t>
                            </m:r>
                            <m:r>
                              <m:t>p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 — natural log of monthly wage (NPR) for individual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 in province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 — </a:t>
                </a:r>
                <a:r>
                  <a:rPr b="1"/>
                  <a:t>key parameter</a:t>
                </a:r>
                <a:r>
                  <a:rPr/>
                  <a:t>: return per additional year of schooling (Mincer return)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exp</m:t>
                    </m:r>
                  </m:oMath>
                </a14:m>
                <a:r>
                  <a:rPr/>
                  <a:t> — years of potential labour market experience (age − schooling − 6)</a:t>
                </a:r>
              </a:p>
              <a:p>
                <a:pPr lvl="0"/>
                <a14:m>
                  <m:oMath xmlns:m="http://schemas.openxmlformats.org/officeDocument/2006/math">
                    <m:sSup>
                      <m:e>
                        <m:r>
                          <m:rPr>
                            <m:nor/>
                            <m:sty m:val="p"/>
                          </m:rPr>
                          <m:t>exp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— captures concavity (returns to experience diminish with age)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rural</m:t>
                    </m:r>
                  </m:oMath>
                </a14:m>
                <a:r>
                  <a:rPr/>
                  <a:t> — binary indicator for rural residence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γ</m:t>
                        </m:r>
                      </m:e>
                      <m:sub>
                        <m:r>
                          <m:t>p</m:t>
                        </m:r>
                      </m:sub>
                    </m:sSub>
                  </m:oMath>
                </a14:m>
                <a:r>
                  <a:rPr/>
                  <a:t> — province fixed effects (regional wage differentials)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p</m:t>
                        </m:r>
                      </m:sub>
                    </m:sSub>
                  </m:oMath>
                </a14:m>
                <a:r>
                  <a:rPr/>
                  <a:t> — error term, heteroskedasticity-robust SE (HC1)</a:t>
                </a:r>
              </a:p>
              <a:p>
                <a:pPr lvl="0" indent="0" marL="0">
                  <a:buNone/>
                </a:pPr>
                <a:r>
                  <a:rPr b="1"/>
                  <a:t>Specifications tested:</a:t>
                </a:r>
                <a:r>
                  <a:rPr/>
                  <a:t> (i) Basic — schooling, experience, rural; (ii) +Province FE; (iii) +Caste/ethnicity controls; (iv) Interactions with marital status. The reported estimate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̂"/>
                          </m:accPr>
                          <m:e>
                            <m:r>
                              <m:t>β</m:t>
                            </m:r>
                          </m:e>
                        </m:acc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0.145</m:t>
                    </m:r>
                  </m:oMath>
                </a14:m>
                <a:r>
                  <a:rPr/>
                  <a:t> implies a </a:t>
                </a:r>
                <a:r>
                  <a:rPr b="1"/>
                  <a:t>14.5% return per year of schooling</a:t>
                </a:r>
                <a:r>
                  <a:rPr/>
                  <a:t> for women; ILO Nepal benchmark of 9% used for the conservative CoI.</a:t>
                </a:r>
              </a:p>
            </p:txBody>
          </p:sp>
        </mc:Choice>
      </mc:AlternateContent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Table A1: Mincer Wage Equation, Female Salary Workers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p-value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Years of schooling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0.3298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[0.3074, 0.3521]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&lt;0.001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Experience (years)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0.1109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[0.0898, 0.1320]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&lt;0.001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Experience squared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-0.0014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[-0.0019, -0.0009]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&lt;0.001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Rural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-0.4351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0.0631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[-0.5588, -0.3114]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&lt;0.001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2214.0000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R-squared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0.3630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Notes:</a:t>
            </a:r>
            <a:r>
              <a:rPr/>
              <a:t> Dependent variable is log of monthly wage (NPR). Sample: women aged 15–64 in long-term salaried employment (N = 952). Specification includes years of schooling, experience, experience squared, rural indicator, and province fixed effects. Standard errors are heteroskedasticity-robust (HC1). </a:t>
            </a:r>
            <a:r>
              <a:rPr i="1"/>
              <a:t>Source</a:t>
            </a:r>
            <a:r>
              <a:rPr/>
              <a:t>: Author’s calculations using NLSS IV 2022/23. *p &lt; 0.10, **p &lt; 0.05, ***p &lt; 0.01.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Table A2: Mincer Wage Equation, Male Salary Workers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p-value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Years of schooling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0.1624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0.0065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[0.1497, 0.1751]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&lt;0.001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Experience (years)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0.1193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[0.1069, 0.1316]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&lt;0.001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Experience squared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-0.0020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[-0.0022, -0.0017]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&lt;0.001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Rural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-0.3706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[-0.4409, -0.3003]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&lt;0.001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4677.0000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R-squared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0.2290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NA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Notes:</a:t>
            </a:r>
            <a:r>
              <a:rPr/>
              <a:t> Dependent variable is log of monthly wage (NPR). Sample: men aged 15–64 in long-term salaried employment. Specification includes years of schooling, experience, experience squared, rural indicator, and province fixed effects. Standard errors are heteroskedasticity-robust (HC1). </a:t>
            </a:r>
            <a:r>
              <a:rPr i="1"/>
              <a:t>Source</a:t>
            </a:r>
            <a:r>
              <a:rPr/>
              <a:t>: Author’s calculations using NLSS IV 2022/23. *p &lt; 0.10, **p &lt; 0.05, ***p &lt; 0.01.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Figure A1: Gender Gap by Age Group</a:t>
            </a:r>
          </a:p>
        </p:txBody>
      </p:sp>
      <p:pic>
        <p:nvPicPr>
          <p:cNvPr descr="../outputs/figures/d4_gap_by_a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76300" y="1193800"/>
            <a:ext cx="7404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Figure A2: Boys’ NEET Regression — Coefficient Plot</a:t>
            </a:r>
          </a:p>
        </p:txBody>
      </p:sp>
      <p:pic>
        <p:nvPicPr>
          <p:cNvPr descr="../outputs/figures/a1_boys_coef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38200" y="1193800"/>
            <a:ext cx="7454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 Table A3: Boys’ NEET Linear Probability Model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95% 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p-value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Rural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[0.030, 0.096]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&lt;0.001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Below poverty 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[-0.011, 0.107]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 wealth quintile step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-0.032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[-0.047, -0.017]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&lt;0.001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Currently married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[0.062, 0.157]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&lt;0.001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Disability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[0.131, 0.476]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&lt;0.001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Janajati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[0.014, 0.087]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Dalit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[-0.044, 0.050]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Religious/Linguistic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-0.051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[-0.128, 0.027]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Other caste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[-0.436, 0.380]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0.892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Notes:</a:t>
            </a:r>
            <a:r>
              <a:rPr/>
              <a:t> Dependent variable is NEET status. Linear probability model. Sample: boys aged 15–24 (n ≈ 4,300). Controls: rural, poverty status, wealth quintile, marital status, disability (WG 6+), caste/ethnicity. Reference categories: Brahmin/Chhetri, urban, non-poor. Province fixed effects included. Standard errors are heteroskedasticity-robust (HC1). </a:t>
            </a:r>
            <a:r>
              <a:rPr i="1"/>
              <a:t>Source</a:t>
            </a:r>
            <a:r>
              <a:rPr/>
              <a:t>: Author’s calculations using NLSS IV 2022/23. *p &lt; 0.10, **p &lt; 0.05, ***p &lt; 0.01.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of Inaction Analysis for Adolescent Girls’ Education and Human Capital in Nepal</dc:title>
  <dc:creator>Hernando Grueso, PhD UNICEF</dc:creator>
  <cp:keywords/>
  <dcterms:created xsi:type="dcterms:W3CDTF">2026-06-06T02:43:39Z</dcterms:created>
  <dcterms:modified xsi:type="dcterms:W3CDTF">2026-06-06T02:43:39Z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2026-05-01</vt:lpwstr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toc-title">
    <vt:lpwstr>Table of contents</vt:lpwstr>
  </property>
</Properties>
</file>