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Cost of Inaction Analysis for Adolescent Girls’ Education and Human Capital in Nepal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UNICEF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2026-05-01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Problem: Girls Enrol, but Don’t Find Work</a:t>
            </a:r>
          </a:p>
        </p:txBody>
      </p:sp>
      <p:pic>
        <p:nvPicPr>
          <p:cNvPr descr="../outputs/figures/d1_overall_gap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879600"/>
            <a:ext cx="4038600" cy="2019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Evidence: Education Reduces Exclusion</a:t>
            </a:r>
          </a:p>
        </p:txBody>
      </p:sp>
      <p:pic>
        <p:nvPicPr>
          <p:cNvPr descr="../outputs/figures/m1_mincer_lifetim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879600"/>
            <a:ext cx="4038600" cy="2019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Cost: NPR 8 Billion per Cohort</a:t>
            </a:r>
          </a:p>
        </p:txBody>
      </p:sp>
      <p:pic>
        <p:nvPicPr>
          <p:cNvPr descr="../outputs/figures/c3_coi_vs_budge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917700"/>
            <a:ext cx="4038600" cy="195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Recommendation: Four Priority Areas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Same Lens Elsewhere — Bolivia: a Different Diagnosis</a:t>
            </a:r>
          </a:p>
        </p:txBody>
      </p:sp>
      <p:pic>
        <p:nvPicPr>
          <p:cNvPr descr="../outputs/figures/bolivia_f7_violence_2panel_e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8000" y="1193800"/>
            <a:ext cx="81153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Bolivia (Aula Conectada investment case) girls are </a:t>
            </a:r>
            <a:r>
              <a:rPr b="1"/>
              <a:t>already in school</a:t>
            </a:r>
            <a:r>
              <a:rPr/>
              <a:t> (~92% enrolment ages 10–19, no gender gap in access); the binding constraints are </a:t>
            </a:r>
            <a:r>
              <a:rPr b="1"/>
              <a:t>learning quality, retention past 15, and the home environment</a:t>
            </a:r>
            <a:r>
              <a:rPr/>
              <a:t>. Violent discipline is concentrated in rural (52% vs 32% urban) and indigenous (46% vs 35%) homes and is associated with ~2 fewer years of schooling; </a:t>
            </a:r>
            <a:r>
              <a:rPr b="1"/>
              <a:t>early pregnancy</a:t>
            </a:r>
            <a:r>
              <a:rPr/>
              <a:t> is the strongest schooling correlate (−2.9 years). Contrast with Nepal: Nepal’s gap is the school-to-work transition; Bolivia’s is learning and retention — the same diagnostic lens, a different policy answer. Source: EDSA 2023 (INE Bolivia), survey-weighted.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Bolivia: Evidence-Matched Theory of Change — BCR ≈ 4–6</a:t>
            </a:r>
          </a:p>
        </p:txBody>
      </p:sp>
      <p:pic>
        <p:nvPicPr>
          <p:cNvPr descr="../outputs/figures/bolivia_f_toc_e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73100" y="1193800"/>
            <a:ext cx="7797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layer answers a diagnosed problem: </a:t>
            </a:r>
            <a:r>
              <a:rPr b="1"/>
              <a:t>learning</a:t>
            </a:r>
            <a:r>
              <a:rPr/>
              <a:t> (gender-responsive pedagogy — Evans &amp; Yuan, 73+ RCTs), </a:t>
            </a:r>
            <a:r>
              <a:rPr b="1"/>
              <a:t>empowerment</a:t>
            </a:r>
            <a:r>
              <a:rPr/>
              <a:t> (ELA-style clubs — the retention answer, incl. early pregnancy; Bandiera 2018, φ-adjusted), and </a:t>
            </a:r>
            <a:r>
              <a:rPr b="1"/>
              <a:t>home environment</a:t>
            </a:r>
            <a:r>
              <a:rPr/>
              <a:t> (parenting — Cluver 2017 effect, Janowski 2025 delivery). Combined attendance effect ≈ +6.6 pp → +0.28 school-years → ~USD 970 PV per girl; </a:t>
            </a:r>
            <a:r>
              <a:rPr b="1"/>
              <a:t>BCR ≈ 4.1–6.1</a:t>
            </a:r>
            <a:r>
              <a:rPr/>
              <a:t> (central ~5.1), a conservative floor since learning gains (+0.06 SD) are not monetised. At full priority scale (~568,000 girls): ~USD 551M lifetime earnings for ~USD 107M invested.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Cost of Inaction Analysis for Adolescent Girls’ Education and Human Capital in Nepal</dc:title>
  <dc:creator>UNICEF</dc:creator>
  <cp:keywords/>
  <dcterms:created xsi:type="dcterms:W3CDTF">2026-07-15T23:03:54Z</dcterms:created>
  <dcterms:modified xsi:type="dcterms:W3CDTF">2026-07-15T23:03:54Z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2026-05-01</vt:lpwstr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toc-title">
    <vt:lpwstr>Table of contents</vt:lpwstr>
  </property>
</Properties>
</file>